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CA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02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Glass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74D8D8"/>
                </a:solidFill>
                <a:latin typeface="Calibri"/>
              </a:rPr>
              <a:t>TRANSPARENT PHARMACY BENEFIT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Georgia"/>
              </a:rPr>
              <a:t>Glass for plan sponsors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A8B0BE"/>
                </a:solidFill>
                <a:latin typeface="Calibri"/>
              </a:rPr>
              <a:t>Best-in-class reporting, radical transparency without locking you into one fee model, and member service that answers in chat and text — from the same rules that adjudicate the claim.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D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Georgia"/>
              </a:rPr>
              <a:t>Reporting</a:t>
            </a:r>
          </a:p>
          <a:p>
            <a:r>
              <a:rPr sz="1200" b="0">
                <a:solidFill>
                  <a:srgbClr val="A8B0BE"/>
                </a:solidFill>
                <a:latin typeface="Calibri"/>
              </a:rPr>
              <a:t>Contract questions answered from the claim ledger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8404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D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40233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Georgia"/>
              </a:rPr>
              <a:t>Transparency</a:t>
            </a:r>
          </a:p>
          <a:p>
            <a:r>
              <a:rPr sz="1200" b="0">
                <a:solidFill>
                  <a:srgbClr val="A8B0BE"/>
                </a:solidFill>
                <a:latin typeface="Calibri"/>
              </a:rPr>
              <a:t>Every dollar named — any commercial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8404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D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0233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Georgia"/>
              </a:rPr>
              <a:t>Service</a:t>
            </a:r>
          </a:p>
          <a:p>
            <a:r>
              <a:rPr sz="1200" b="0">
                <a:solidFill>
                  <a:srgbClr val="A8B0BE"/>
                </a:solidFill>
                <a:latin typeface="Calibri"/>
              </a:rPr>
              <a:t>Chat and text, grounded in live plan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C5CBD4"/>
                </a:solidFill>
                <a:latin typeface="Calibri"/>
              </a:rPr>
              <a:t>How we lead — Reports finance trusts, economics you can audit, and service that does not make people wait on hold. Flexible pricing is available — opacity is not.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CA2A7"/>
                </a:solidFill>
                <a:latin typeface="Calibri"/>
              </a:rPr>
              <a:t>THE STATUS QUO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0">
                <a:solidFill>
                  <a:srgbClr val="12161F"/>
                </a:solidFill>
                <a:latin typeface="Georgia"/>
              </a:rPr>
              <a:t>What sponsors are tired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4E5D76"/>
                </a:solidFill>
                <a:latin typeface="Calibri"/>
              </a:rPr>
              <a:t>The pharmacy benefit often fails in three places that matter more than the brochure discount: reports that cannot be checked, fees that hide inside drug cost, and member service that cannot explain a reject.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352044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3520440" cy="2651760"/>
          </a:xfrm>
          <a:prstGeom prst="roundRect">
            <a:avLst>
              <a:gd name="adj" fmla="val 8000"/>
            </a:avLst>
          </a:prstGeom>
          <a:noFill/>
          <a:ln>
            <a:solidFill>
              <a:srgbClr val="D5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200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2161F"/>
                </a:solidFill>
                <a:latin typeface="Calibri"/>
              </a:rPr>
              <a:t>Reporting today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Quarterly PDFs with stored totals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Guarantee credits that never quite appear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Trend stories without claim-level proof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Finance and benefits see different numbers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834640"/>
            <a:ext cx="352044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2834640"/>
            <a:ext cx="3520440" cy="2651760"/>
          </a:xfrm>
          <a:prstGeom prst="roundRect">
            <a:avLst>
              <a:gd name="adj" fmla="val 8000"/>
            </a:avLst>
          </a:prstGeom>
          <a:noFill/>
          <a:ln>
            <a:solidFill>
              <a:srgbClr val="D5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971800"/>
            <a:ext cx="3200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2161F"/>
                </a:solidFill>
                <a:latin typeface="Calibri"/>
              </a:rPr>
              <a:t>Transparency today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“Transparency” as a slide, not a ledger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Pass-through sold, then exceptions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Or spread accepted because RFPs demand PEPM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No way to name every dollar either 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834640"/>
            <a:ext cx="352044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2834640"/>
            <a:ext cx="3520440" cy="2651760"/>
          </a:xfrm>
          <a:prstGeom prst="roundRect">
            <a:avLst>
              <a:gd name="adj" fmla="val 8000"/>
            </a:avLst>
          </a:prstGeom>
          <a:noFill/>
          <a:ln>
            <a:solidFill>
              <a:srgbClr val="D5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971800"/>
            <a:ext cx="3200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2161F"/>
                </a:solidFill>
                <a:latin typeface="Calibri"/>
              </a:rPr>
              <a:t>Service today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Phone trees and callback queues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Chatbots that cannot read the claim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Members escalate what should be one text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HR becomes the unofficial help desk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CA2A7"/>
                </a:solidFill>
                <a:latin typeface="Calibri"/>
              </a:rPr>
              <a:t>THE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0">
                <a:solidFill>
                  <a:srgbClr val="12161F"/>
                </a:solidFill>
                <a:latin typeface="Georgia"/>
              </a:rPr>
              <a:t>Three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4E5D76"/>
                </a:solidFill>
                <a:latin typeface="Calibri"/>
              </a:rPr>
              <a:t>Everything else — pass-through vs PEPM, shared savings, clinical modules — sits under these three.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2161F"/>
                </a:solidFill>
                <a:latin typeface="Calibri"/>
              </a:rPr>
              <a:t>Best-in-class reporting</a:t>
            </a:r>
          </a:p>
          <a:p>
            <a:r>
              <a:rPr sz="1300" b="0">
                <a:solidFill>
                  <a:srgbClr val="4E5D76"/>
                </a:solidFill>
                <a:latin typeface="Calibri"/>
              </a:rPr>
              <a:t>Sponsor dashboards, guarantee reconciliation, rebate waterfalls, trend drivers, design scenarios, and a data agent for ad-hoc questions — all computed from claims. Finance can drill to the dollar.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862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8404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2161F"/>
                </a:solidFill>
                <a:latin typeface="Calibri"/>
              </a:rPr>
              <a:t>Transparency with flexible pricing</a:t>
            </a:r>
          </a:p>
          <a:p>
            <a:r>
              <a:rPr sz="1300" b="0">
                <a:solidFill>
                  <a:srgbClr val="4E5D76"/>
                </a:solidFill>
                <a:latin typeface="Calibri"/>
              </a:rPr>
              <a:t>Claim-level derivation stays mandatory. How Glass gets paid is a menu: pass-through, PEPM, shared savings, outcomes at risk, or disclosed margin — always as named 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0292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121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98348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2161F"/>
                </a:solidFill>
                <a:latin typeface="Calibri"/>
              </a:rPr>
              <a:t>Excellent service by chat and text</a:t>
            </a:r>
          </a:p>
          <a:p>
            <a:r>
              <a:rPr sz="1300" b="0">
                <a:solidFill>
                  <a:srgbClr val="4E5D76"/>
                </a:solidFill>
                <a:latin typeface="Calibri"/>
              </a:rPr>
              <a:t>Members get answers where they already are — chat and SMS — from an agent grounded in live eligibility, formulary, PA status, and claim history. Every figure comes from the book.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CA2A7"/>
                </a:solidFill>
                <a:latin typeface="Calibri"/>
              </a:rPr>
              <a:t>PILLAR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0">
                <a:solidFill>
                  <a:srgbClr val="12161F"/>
                </a:solidFill>
                <a:latin typeface="Georgia"/>
              </a:rPr>
              <a:t>Best-in-class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4E5D76"/>
                </a:solidFill>
                <a:latin typeface="Calibri"/>
              </a:rPr>
              <a:t>The questions a plan sponsor should answer at year-end — computed from the claim ledger, not supplied by the PBM as a finished answer.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697480"/>
          <a:ext cx="1088136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297680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E5D76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E5D76"/>
                          </a:solidFill>
                          <a:latin typeface="Calibri"/>
                        </a:rPr>
                        <a:t>What it answers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E5D76"/>
                          </a:solidFill>
                          <a:latin typeface="Calibri"/>
                        </a:rPr>
                        <a:t>Why it is best-in-class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Guarantee reconciliation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Did pricing and ops promises pay?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Each measure settles alone — no cross-category netting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Rebate waterfall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What was earned vs retained vs passed?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Floors, admin, and surplus as separate lines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Spread / fee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What would the same claims cost elsewhere?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Identical book, alternate economics — a calculation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Trend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Why did PMPM move?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Price, util, mix, starts, leavers that sum to the whole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Change scenarios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What if we change the design?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Whole-book re-adjudication + named member disruption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Data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Ad-hoc questions and report briefings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Ask in plain language; every figure is tool-backed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897880"/>
            <a:ext cx="73152" cy="640080"/>
          </a:xfrm>
          <a:prstGeom prst="rect">
            <a:avLst/>
          </a:prstGeom>
          <a:solidFill>
            <a:srgbClr val="1CA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5897880"/>
            <a:ext cx="10789920" cy="640080"/>
          </a:xfrm>
          <a:prstGeom prst="rect">
            <a:avLst/>
          </a:prstGeom>
          <a:solidFill>
            <a:srgbClr val="EE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97103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04B60"/>
                </a:solidFill>
                <a:latin typeface="Calibri"/>
              </a:rPr>
              <a:t>Reporting promise  </a:t>
            </a:r>
            <a:r>
              <a:rPr sz="1200" b="0">
                <a:solidFill>
                  <a:srgbClr val="404B60"/>
                </a:solidFill>
                <a:latin typeface="Calibri"/>
              </a:rPr>
              <a:t>No figure is a stored answer. If we cannot recompute it from claims and contract rules, it does not belong in a Glass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CA2A7"/>
                </a:solidFill>
                <a:latin typeface="Calibri"/>
              </a:rPr>
              <a:t>PILLAR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0">
                <a:solidFill>
                  <a:srgbClr val="12161F"/>
                </a:solidFill>
                <a:latin typeface="Georgia"/>
              </a:rPr>
              <a:t>Transparency — without a single fee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4E5D76"/>
                </a:solidFill>
                <a:latin typeface="Calibri"/>
              </a:rPr>
              <a:t>Transparency is the product layer. Pricing is packaging. Sponsors who need PEPM or shared savings still get claim-level derivation.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3520440" cy="2468880"/>
          </a:xfrm>
          <a:prstGeom prst="roundRect">
            <a:avLst>
              <a:gd name="adj" fmla="val 8000"/>
            </a:avLst>
          </a:prstGeom>
          <a:noFill/>
          <a:ln>
            <a:solidFill>
              <a:srgbClr val="D5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200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2161F"/>
                </a:solidFill>
                <a:latin typeface="Calibri"/>
              </a:rPr>
              <a:t>Always on — Transparency layer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Lesser-of arms on every claim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Source documents with citations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Settlement: invoice vs remit vs rebates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Guarantees from sponsor-visible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88036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2880360"/>
            <a:ext cx="3520440" cy="2468880"/>
          </a:xfrm>
          <a:prstGeom prst="roundRect">
            <a:avLst>
              <a:gd name="adj" fmla="val 8000"/>
            </a:avLst>
          </a:prstGeom>
          <a:noFill/>
          <a:ln>
            <a:solidFill>
              <a:srgbClr val="D5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3200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2161F"/>
                </a:solidFill>
                <a:latin typeface="Calibri"/>
              </a:rPr>
              <a:t>Your choice — Commercial shell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Full pass-through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Transparent PEPM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Shared savings on verified interventions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Outcomes / SLA dollars at risk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Disclosed hybrid margin if 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880360"/>
            <a:ext cx="352044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2880360"/>
            <a:ext cx="3520440" cy="2468880"/>
          </a:xfrm>
          <a:prstGeom prst="roundRect">
            <a:avLst>
              <a:gd name="adj" fmla="val 8000"/>
            </a:avLst>
          </a:prstGeom>
          <a:noFill/>
          <a:ln>
            <a:solidFill>
              <a:srgbClr val="D5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017520"/>
            <a:ext cx="3200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2161F"/>
                </a:solidFill>
                <a:latin typeface="Calibri"/>
              </a:rPr>
              <a:t>Rule — Disclosure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If Glass earns money, it appears as a named fee, share, credit, or disclosed margin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Never an unexplained plan-vs-pharmacy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669280"/>
            <a:ext cx="73152" cy="640080"/>
          </a:xfrm>
          <a:prstGeom prst="rect">
            <a:avLst/>
          </a:prstGeom>
          <a:solidFill>
            <a:srgbClr val="1CA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5669280"/>
            <a:ext cx="10789920" cy="640080"/>
          </a:xfrm>
          <a:prstGeom prst="rect">
            <a:avLst/>
          </a:prstGeom>
          <a:solidFill>
            <a:srgbClr val="EE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4243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04B60"/>
                </a:solidFill>
                <a:latin typeface="Calibri"/>
              </a:rPr>
              <a:t>Line for the room  </a:t>
            </a:r>
            <a:r>
              <a:rPr sz="1200" b="0">
                <a:solidFill>
                  <a:srgbClr val="404B60"/>
                </a:solidFill>
                <a:latin typeface="Calibri"/>
              </a:rPr>
              <a:t>“Buy the fee model that fits your RFP. You still get the ledger. You just cannot buy opacity.”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CA2A7"/>
                </a:solidFill>
                <a:latin typeface="Calibri"/>
              </a:rPr>
              <a:t>PILLAR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0">
                <a:solidFill>
                  <a:srgbClr val="12161F"/>
                </a:solidFill>
                <a:latin typeface="Georgia"/>
              </a:rPr>
              <a:t>Excellent service through chat and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4E5D76"/>
                </a:solidFill>
                <a:latin typeface="Calibri"/>
              </a:rPr>
              <a:t>Members should not need HR or a 45-minute hold to learn why a claim rejected. Glass answers in chat and SMS from the same rules engine that priced the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5349240" cy="1051560"/>
          </a:xfrm>
          <a:prstGeom prst="roundRect">
            <a:avLst>
              <a:gd name="adj" fmla="val 8000"/>
            </a:avLst>
          </a:prstGeom>
          <a:noFill/>
          <a:ln>
            <a:solidFill>
              <a:srgbClr val="D5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12161F"/>
                </a:solidFill>
                <a:latin typeface="Georgia"/>
              </a:rPr>
              <a:t>Chat</a:t>
            </a:r>
          </a:p>
          <a:p>
            <a:r>
              <a:rPr sz="1200" b="0">
                <a:solidFill>
                  <a:srgbClr val="4E5D76"/>
                </a:solidFill>
                <a:latin typeface="Calibri"/>
              </a:rPr>
              <a:t>In-app / web member service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834640"/>
            <a:ext cx="5349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834640"/>
            <a:ext cx="5349240" cy="1051560"/>
          </a:xfrm>
          <a:prstGeom prst="roundRect">
            <a:avLst>
              <a:gd name="adj" fmla="val 8000"/>
            </a:avLst>
          </a:prstGeom>
          <a:noFill/>
          <a:ln>
            <a:solidFill>
              <a:srgbClr val="D5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0175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12161F"/>
                </a:solidFill>
                <a:latin typeface="Georgia"/>
              </a:rPr>
              <a:t>Text</a:t>
            </a:r>
          </a:p>
          <a:p>
            <a:r>
              <a:rPr sz="1200" b="0">
                <a:solidFill>
                  <a:srgbClr val="4E5D76"/>
                </a:solidFill>
                <a:latin typeface="Calibri"/>
              </a:rPr>
              <a:t>SMS for status, rejects, and next steps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4069080"/>
          <a:ext cx="1088136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754880"/>
                <a:gridCol w="4663440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E5D76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E5D76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E5D76"/>
                          </a:solidFill>
                          <a:latin typeface="Calibri"/>
                        </a:rPr>
                        <a:t>Why it works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“Is Ozempic covered for me?”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Reads formulary + member eligibility live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“What’s the status of my prior auth?”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Follows into the PA record without a second ask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Reject at the pharmacy → why + what to 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Pushes the answer when friction happens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PA approved / more info needed / expiring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Keeps the member out of the call center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Either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Cost share, accumulators, alternatives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Every number comes from a tool on the book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CA2A7"/>
                </a:solidFill>
                <a:latin typeface="Calibri"/>
              </a:rPr>
              <a:t>COMMERCIAL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0">
                <a:solidFill>
                  <a:srgbClr val="12161F"/>
                </a:solidFill>
                <a:latin typeface="Georgia"/>
              </a:rPr>
              <a:t>Flexible pricing under the same glass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4E5D76"/>
                </a:solidFill>
                <a:latin typeface="Calibri"/>
              </a:rPr>
              <a:t>Reporting and service do not change with the fee model. Only how Glass appears on the invoice changes — always disclosed.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834640"/>
          <a:ext cx="1088136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023360"/>
                <a:gridCol w="3931920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E5D76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E5D76"/>
                          </a:solidFill>
                          <a:latin typeface="Calibri"/>
                        </a:rPr>
                        <a:t>How Glass is paid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E5D76"/>
                          </a:solidFill>
                          <a:latin typeface="Calibri"/>
                        </a:rPr>
                        <a:t>Reporting &amp; service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Full pass-through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Low admin PEPM/PMPM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Full ledger + chat/text included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Transparent PEPM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Higher PEPM for ops + service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Same reports; service SLAs explicit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Shared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% of verified, reproducible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Savings measured in the same reporting layer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Outcomes / SLA at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Base fee + credits if targets miss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Service and PA turnaround on the scorecard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Disclosed hybrid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Named, capped margin on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Margin line visible on claims and invoices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806440"/>
            <a:ext cx="73152" cy="640080"/>
          </a:xfrm>
          <a:prstGeom prst="rect">
            <a:avLst/>
          </a:prstGeom>
          <a:solidFill>
            <a:srgbClr val="1CA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5806440"/>
            <a:ext cx="10789920" cy="640080"/>
          </a:xfrm>
          <a:prstGeom prst="rect">
            <a:avLst/>
          </a:prstGeom>
          <a:solidFill>
            <a:srgbClr val="EEF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7959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04B60"/>
                </a:solidFill>
                <a:latin typeface="Calibri"/>
              </a:rPr>
              <a:t>Non-negotiable  </a:t>
            </a:r>
            <a:r>
              <a:rPr sz="1200" b="0">
                <a:solidFill>
                  <a:srgbClr val="404B60"/>
                </a:solidFill>
                <a:latin typeface="Calibri"/>
              </a:rPr>
              <a:t>No unexplained plan-vs-pharmacy gap. Chat and text answers stay grounded in the book under every commercial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1CA2A7"/>
                </a:solidFill>
                <a:latin typeface="Calibri"/>
              </a:rPr>
              <a:t>DEMO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0">
                <a:solidFill>
                  <a:srgbClr val="12161F"/>
                </a:solidFill>
                <a:latin typeface="Georgia"/>
              </a:rPr>
              <a:t>Proof points to run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4E5D76"/>
                </a:solidFill>
                <a:latin typeface="Calibri"/>
              </a:rPr>
              <a:t>Six stops. End on the channel this sponsor’s members will actually use.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697480"/>
          <a:ext cx="10881359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498079"/>
                <a:gridCol w="2286000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E5D76"/>
                          </a:solidFill>
                          <a:latin typeface="Calibri"/>
                        </a:rPr>
                        <a:t>Stop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E5D76"/>
                          </a:solidFill>
                          <a:latin typeface="Calibri"/>
                        </a:rPr>
                        <a:t>Show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4E5D76"/>
                          </a:solidFill>
                          <a:latin typeface="Calibri"/>
                        </a:rPr>
                        <a:t>Pillar</a:t>
                      </a:r>
                    </a:p>
                  </a:txBody>
                  <a:tcPr>
                    <a:solidFill>
                      <a:srgbClr val="F6F7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Sponsor dashboard → totals match the claim ledger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Reporting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Contract reports + data agent briefing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Reporting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Open a claim: lesser-of arms + source citation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Transparency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Name the fee model they buy — every dollar still labeled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Transparency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Member chat: coverage / PA status with live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2161F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Text moment: reject or PA update as plain-language SMS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04B60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3492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5349240"/>
            <a:ext cx="5349240" cy="1143000"/>
          </a:xfrm>
          <a:prstGeom prst="roundRect">
            <a:avLst>
              <a:gd name="adj" fmla="val 8000"/>
            </a:avLst>
          </a:prstGeom>
          <a:noFill/>
          <a:ln>
            <a:solidFill>
              <a:srgbClr val="D5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4864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2161F"/>
                </a:solidFill>
                <a:latin typeface="Calibri"/>
              </a:rPr>
              <a:t>For finance / benefits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Stay on reports and transparency until they trust the numbers — then show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534924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72200" y="5349240"/>
            <a:ext cx="5349240" cy="1143000"/>
          </a:xfrm>
          <a:prstGeom prst="roundRect">
            <a:avLst>
              <a:gd name="adj" fmla="val 8000"/>
            </a:avLst>
          </a:prstGeom>
          <a:noFill/>
          <a:ln>
            <a:solidFill>
              <a:srgbClr val="D5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54864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2161F"/>
                </a:solidFill>
                <a:latin typeface="Calibri"/>
              </a:rPr>
              <a:t>For HR / experience owners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404B60"/>
                </a:solidFill>
                <a:latin typeface="Calibri"/>
              </a:rPr>
              <a:t>•  Lead with chat and text, then show the answer matches the claim.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74D8D8"/>
                </a:solidFill>
                <a:latin typeface="Calibri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Georgia"/>
              </a:rPr>
              <a:t>The 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49240" cy="2377440"/>
          </a:xfrm>
          <a:prstGeom prst="roundRect">
            <a:avLst>
              <a:gd name="adj" fmla="val 8000"/>
            </a:avLst>
          </a:prstGeom>
          <a:solidFill>
            <a:srgbClr val="1D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5029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Near-term engagement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C5CBD4"/>
                </a:solidFill>
                <a:latin typeface="Calibri"/>
              </a:rPr>
              <a:t>•  Walk finance through recomputable contract reports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C5CBD4"/>
                </a:solidFill>
                <a:latin typeface="Calibri"/>
              </a:rPr>
              <a:t>•  Pick a fee model from the menu — keep full transparency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C5CBD4"/>
                </a:solidFill>
                <a:latin typeface="Calibri"/>
              </a:rPr>
              <a:t>•  Run live chat on 5 real member questions from last month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C5CBD4"/>
                </a:solidFill>
                <a:latin typeface="Calibri"/>
              </a:rPr>
              <a:t>•  Prototype SMS for rejects + PA status on a pilot population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194560"/>
            <a:ext cx="5349240" cy="2377440"/>
          </a:xfrm>
          <a:prstGeom prst="roundRect">
            <a:avLst>
              <a:gd name="adj" fmla="val 8000"/>
            </a:avLst>
          </a:prstGeom>
          <a:solidFill>
            <a:srgbClr val="1D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331720"/>
            <a:ext cx="5029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What we need from you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C5CBD4"/>
                </a:solidFill>
                <a:latin typeface="Calibri"/>
              </a:rPr>
              <a:t>•  Current reporting gaps finance cannot close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C5CBD4"/>
                </a:solidFill>
                <a:latin typeface="Calibri"/>
              </a:rPr>
              <a:t>•  Preferred fee construct for the next RFP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C5CBD4"/>
                </a:solidFill>
                <a:latin typeface="Calibri"/>
              </a:rPr>
              <a:t>•  Top member call / HR ticket reasons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C5CBD4"/>
                </a:solidFill>
                <a:latin typeface="Calibri"/>
              </a:rPr>
              <a:t>•  Whether SMS is allowed for benefit communications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FFFFFF"/>
                </a:solidFill>
                <a:latin typeface="Georgia"/>
              </a:rPr>
              <a:t>Reports you can trust. Transparency that survives any fee model. Answers by chat and 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